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44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20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10: Use</a:t>
            </a:r>
          </a:p>
          <a:p>
            <a:r>
              <a:t>The vector can be used for clustering and retrieval, and a researcher can edit one concept and search for the nearest micrograph.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990" y="114297"/>
            <a:ext cx="11429714" cy="342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1F2933"/>
                </a:solidFill>
                <a:latin typeface="Calibri"/>
              </a:rPr>
              <a:t>ASSUME: agentic concept discovery for scientific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9025" y="4038497"/>
            <a:ext cx="4952876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 dirty="0">
                <a:solidFill>
                  <a:srgbClr val="1F2933"/>
                </a:solidFill>
                <a:latin typeface="Calibri"/>
              </a:rPr>
              <a:t>Concept discovery (agent loop)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70703" y="2304992"/>
            <a:ext cx="335271" cy="0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roposer agent"/>
          <p:cNvSpPr/>
          <p:nvPr/>
        </p:nvSpPr>
        <p:spPr>
          <a:xfrm>
            <a:off x="2628834" y="1752556"/>
            <a:ext cx="1981150" cy="110487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dirty="0">
                <a:solidFill>
                  <a:srgbClr val="1F2933"/>
                </a:solidFill>
                <a:latin typeface="Calibri"/>
              </a:rPr>
              <a:t>Proposer agent</a:t>
            </a:r>
          </a:p>
          <a:p>
            <a:pPr algn="ctr">
              <a:spcBef>
                <a:spcPts val="400"/>
              </a:spcBef>
            </a:pPr>
            <a:r>
              <a:rPr sz="1150" dirty="0">
                <a:solidFill>
                  <a:srgbClr val="616E7C"/>
                </a:solidFill>
                <a:latin typeface="Calibri"/>
              </a:rPr>
              <a:t>writes atomic concepts</a:t>
            </a:r>
          </a:p>
          <a:p>
            <a:pPr algn="ctr"/>
            <a:r>
              <a:rPr sz="1150" dirty="0">
                <a:solidFill>
                  <a:srgbClr val="616E7C"/>
                </a:solidFill>
                <a:latin typeface="Calibri"/>
              </a:rPr>
              <a:t>0 </a:t>
            </a:r>
            <a:r>
              <a:rPr lang="en-US" sz="1150" dirty="0">
                <a:solidFill>
                  <a:srgbClr val="616E7C"/>
                </a:solidFill>
                <a:latin typeface="Calibri"/>
              </a:rPr>
              <a:t>(not applicable) or</a:t>
            </a:r>
          </a:p>
          <a:p>
            <a:pPr algn="ctr"/>
            <a:r>
              <a:rPr lang="en-US" sz="1150" dirty="0">
                <a:solidFill>
                  <a:srgbClr val="616E7C"/>
                </a:solidFill>
                <a:latin typeface="Calibri"/>
              </a:rPr>
              <a:t>a score of 1-5</a:t>
            </a:r>
            <a:endParaRPr sz="1150" dirty="0">
              <a:solidFill>
                <a:srgbClr val="616E7C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9249" y="2933626"/>
            <a:ext cx="3200319" cy="571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1">
                <a:solidFill>
                  <a:srgbClr val="2563EB"/>
                </a:solidFill>
                <a:latin typeface="Calibri"/>
              </a:rPr>
              <a:t>"these two differ in</a:t>
            </a:r>
          </a:p>
          <a:p>
            <a:pPr algn="ctr"/>
            <a:r>
              <a:rPr sz="1150" b="0" i="1">
                <a:solidFill>
                  <a:srgbClr val="2563EB"/>
                </a:solidFill>
                <a:latin typeface="Calibri"/>
              </a:rPr>
              <a:t>particle density"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32844" y="2304992"/>
            <a:ext cx="335271" cy="0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rger agent"/>
          <p:cNvSpPr/>
          <p:nvPr/>
        </p:nvSpPr>
        <p:spPr>
          <a:xfrm>
            <a:off x="4990975" y="1752556"/>
            <a:ext cx="1981150" cy="110487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dirty="0">
                <a:solidFill>
                  <a:srgbClr val="1F2933"/>
                </a:solidFill>
                <a:latin typeface="Calibri"/>
              </a:rPr>
              <a:t>Merger agent</a:t>
            </a:r>
          </a:p>
          <a:p>
            <a:pPr algn="ctr">
              <a:spcBef>
                <a:spcPts val="400"/>
              </a:spcBef>
            </a:pPr>
            <a:r>
              <a:rPr sz="1150" dirty="0">
                <a:solidFill>
                  <a:srgbClr val="616E7C"/>
                </a:solidFill>
                <a:latin typeface="Calibri"/>
              </a:rPr>
              <a:t>prunes dead concepts</a:t>
            </a:r>
          </a:p>
          <a:p>
            <a:pPr algn="ctr"/>
            <a:r>
              <a:rPr sz="1150" dirty="0">
                <a:solidFill>
                  <a:srgbClr val="616E7C"/>
                </a:solidFill>
                <a:latin typeface="Calibri"/>
              </a:rPr>
              <a:t>merges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390" y="2933626"/>
            <a:ext cx="3200319" cy="571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1">
                <a:solidFill>
                  <a:srgbClr val="2563EB"/>
                </a:solidFill>
                <a:latin typeface="Calibri"/>
              </a:rPr>
              <a:t>"is this different from</a:t>
            </a:r>
          </a:p>
          <a:p>
            <a:pPr algn="ctr"/>
            <a:r>
              <a:rPr sz="1150" b="0" i="1">
                <a:solidFill>
                  <a:srgbClr val="2563EB"/>
                </a:solidFill>
                <a:latin typeface="Calibri"/>
              </a:rPr>
              <a:t>particle area fraction?"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4985" y="2304992"/>
            <a:ext cx="335271" cy="0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erifier agent"/>
          <p:cNvSpPr/>
          <p:nvPr/>
        </p:nvSpPr>
        <p:spPr>
          <a:xfrm>
            <a:off x="7353116" y="1752556"/>
            <a:ext cx="1981150" cy="110487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dirty="0">
                <a:solidFill>
                  <a:srgbClr val="1F2933"/>
                </a:solidFill>
                <a:latin typeface="Calibri"/>
              </a:rPr>
              <a:t>Verifier agent</a:t>
            </a:r>
          </a:p>
          <a:p>
            <a:pPr algn="ctr">
              <a:spcBef>
                <a:spcPts val="400"/>
              </a:spcBef>
            </a:pPr>
            <a:r>
              <a:rPr lang="en-US" sz="1150" dirty="0">
                <a:solidFill>
                  <a:srgbClr val="616E7C"/>
                </a:solidFill>
                <a:latin typeface="Calibri"/>
              </a:rPr>
              <a:t>real</a:t>
            </a:r>
            <a:r>
              <a:rPr sz="1150" dirty="0">
                <a:solidFill>
                  <a:srgbClr val="616E7C"/>
                </a:solidFill>
                <a:latin typeface="Calibri"/>
              </a:rPr>
              <a:t> morphology</a:t>
            </a:r>
            <a:r>
              <a:rPr lang="en-US" sz="1150" dirty="0">
                <a:solidFill>
                  <a:srgbClr val="616E7C"/>
                </a:solidFill>
                <a:latin typeface="Calibri"/>
              </a:rPr>
              <a:t> feature</a:t>
            </a:r>
            <a:r>
              <a:rPr sz="1150" dirty="0">
                <a:solidFill>
                  <a:srgbClr val="616E7C"/>
                </a:solidFill>
                <a:latin typeface="Calibri"/>
              </a:rPr>
              <a:t> or</a:t>
            </a:r>
          </a:p>
          <a:p>
            <a:pPr algn="ctr"/>
            <a:r>
              <a:rPr sz="1150" dirty="0">
                <a:solidFill>
                  <a:srgbClr val="616E7C"/>
                </a:solidFill>
                <a:latin typeface="Calibri"/>
              </a:rPr>
              <a:t>imaging condition?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531" y="2933626"/>
            <a:ext cx="3200319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1" dirty="0">
                <a:solidFill>
                  <a:srgbClr val="2563EB"/>
                </a:solidFill>
                <a:latin typeface="Calibri"/>
              </a:rPr>
              <a:t>"is this </a:t>
            </a:r>
            <a:r>
              <a:rPr lang="en-US" sz="1150" i="1" dirty="0">
                <a:solidFill>
                  <a:srgbClr val="2563EB"/>
                </a:solidFill>
                <a:latin typeface="Calibri"/>
              </a:rPr>
              <a:t>related to microstructure or</a:t>
            </a:r>
          </a:p>
          <a:p>
            <a:pPr algn="ctr"/>
            <a:r>
              <a:rPr lang="en-US" sz="1150" i="1" dirty="0">
                <a:solidFill>
                  <a:srgbClr val="2563EB"/>
                </a:solidFill>
                <a:latin typeface="Calibri"/>
              </a:rPr>
              <a:t>a</a:t>
            </a:r>
            <a:r>
              <a:rPr lang="en-US" sz="1150" b="0" i="1" dirty="0">
                <a:solidFill>
                  <a:srgbClr val="2563EB"/>
                </a:solidFill>
                <a:latin typeface="Calibri"/>
              </a:rPr>
              <a:t>n imaging artifact</a:t>
            </a:r>
            <a:r>
              <a:rPr sz="1150" b="0" i="1" dirty="0">
                <a:solidFill>
                  <a:srgbClr val="2563EB"/>
                </a:solidFill>
                <a:latin typeface="Calibri"/>
              </a:rPr>
              <a:t>?"</a:t>
            </a:r>
          </a:p>
        </p:txBody>
      </p:sp>
      <p:sp>
        <p:nvSpPr>
          <p:cNvPr id="16" name="Literature search"/>
          <p:cNvSpPr/>
          <p:nvPr/>
        </p:nvSpPr>
        <p:spPr>
          <a:xfrm>
            <a:off x="7353116" y="838179"/>
            <a:ext cx="1981150" cy="647683"/>
          </a:xfrm>
          <a:prstGeom prst="roundRect">
            <a:avLst>
              <a:gd name="adj" fmla="val 12000"/>
            </a:avLst>
          </a:prstGeom>
          <a:solidFill>
            <a:srgbClr val="E5E7EB"/>
          </a:solidFill>
          <a:ln w="222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Literature search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16E7C"/>
                </a:solidFill>
                <a:latin typeface="Calibri"/>
              </a:rPr>
              <a:t>Valency Bond MCP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43691" y="1508722"/>
            <a:ext cx="0" cy="220974"/>
          </a:xfrm>
          <a:prstGeom prst="line">
            <a:avLst/>
          </a:prstGeom>
          <a:ln w="25400">
            <a:solidFill>
              <a:srgbClr val="1F2933"/>
            </a:solidFill>
            <a:headEnd type="triangle" w="med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57126" y="2304992"/>
            <a:ext cx="335271" cy="0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ept dictionary"/>
          <p:cNvSpPr/>
          <p:nvPr/>
        </p:nvSpPr>
        <p:spPr>
          <a:xfrm>
            <a:off x="9715257" y="1752556"/>
            <a:ext cx="2209744" cy="110487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22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dirty="0">
                <a:solidFill>
                  <a:srgbClr val="1F2933"/>
                </a:solidFill>
                <a:latin typeface="Calibri"/>
              </a:rPr>
              <a:t>Concept dictionary</a:t>
            </a:r>
          </a:p>
          <a:p>
            <a:pPr algn="ctr">
              <a:spcBef>
                <a:spcPts val="400"/>
              </a:spcBef>
            </a:pPr>
            <a:r>
              <a:rPr sz="1150" dirty="0">
                <a:solidFill>
                  <a:srgbClr val="616E7C"/>
                </a:solidFill>
                <a:latin typeface="Calibri"/>
              </a:rPr>
              <a:t>named rubrics +</a:t>
            </a:r>
          </a:p>
          <a:p>
            <a:pPr algn="ctr"/>
            <a:r>
              <a:rPr sz="1150" dirty="0">
                <a:solidFill>
                  <a:srgbClr val="616E7C"/>
                </a:solidFill>
                <a:latin typeface="Calibri"/>
              </a:rPr>
              <a:t>literature references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3355" y="4343291"/>
            <a:ext cx="11658308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9025" y="4457588"/>
            <a:ext cx="4952876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 dirty="0">
                <a:solidFill>
                  <a:srgbClr val="1F2933"/>
                </a:solidFill>
                <a:latin typeface="Calibri"/>
              </a:rPr>
              <a:t>Embedding (run time)</a:t>
            </a:r>
          </a:p>
        </p:txBody>
      </p:sp>
      <p:sp>
        <p:nvSpPr>
          <p:cNvPr id="22" name="New micrograph"/>
          <p:cNvSpPr/>
          <p:nvPr/>
        </p:nvSpPr>
        <p:spPr>
          <a:xfrm>
            <a:off x="266693" y="5333866"/>
            <a:ext cx="1981150" cy="1104872"/>
          </a:xfrm>
          <a:prstGeom prst="roundRect">
            <a:avLst>
              <a:gd name="adj" fmla="val 12000"/>
            </a:avLst>
          </a:prstGeom>
          <a:solidFill>
            <a:srgbClr val="E5E7EB"/>
          </a:solidFill>
          <a:ln w="222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New micrograph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616E7C"/>
                </a:solidFill>
                <a:latin typeface="Calibri"/>
              </a:rPr>
              <a:t>unlabelled, any class</a:t>
            </a:r>
          </a:p>
          <a:p>
            <a:pPr algn="ctr"/>
            <a:r>
              <a:rPr sz="1150">
                <a:solidFill>
                  <a:srgbClr val="616E7C"/>
                </a:solidFill>
                <a:latin typeface="Calibri"/>
              </a:rPr>
              <a:t>or magnification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70703" y="5886302"/>
            <a:ext cx="754361" cy="0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mbedding agent"/>
          <p:cNvSpPr/>
          <p:nvPr/>
        </p:nvSpPr>
        <p:spPr>
          <a:xfrm>
            <a:off x="3047923" y="5333866"/>
            <a:ext cx="2209744" cy="110487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Embedding agent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616E7C"/>
                </a:solidFill>
                <a:latin typeface="Calibri"/>
              </a:rPr>
              <a:t>scores the micrograph</a:t>
            </a:r>
          </a:p>
          <a:p>
            <a:pPr algn="ctr"/>
            <a:r>
              <a:rPr sz="1150">
                <a:solidFill>
                  <a:srgbClr val="616E7C"/>
                </a:solidFill>
                <a:latin typeface="Calibri"/>
              </a:rPr>
              <a:t>against every rubric (0-5)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925001" y="2304992"/>
            <a:ext cx="152397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7398" y="2304992"/>
            <a:ext cx="0" cy="2419289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029074" y="4724281"/>
            <a:ext cx="7048324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074" y="4724281"/>
            <a:ext cx="0" cy="586726"/>
          </a:xfrm>
          <a:prstGeom prst="line">
            <a:avLst/>
          </a:prstGeom>
          <a:ln w="25400">
            <a:solidFill>
              <a:srgbClr val="16A34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38819" y="4457588"/>
            <a:ext cx="3200319" cy="342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1" dirty="0">
                <a:solidFill>
                  <a:srgbClr val="16A34A"/>
                </a:solidFill>
                <a:latin typeface="Calibri"/>
              </a:rPr>
              <a:t>rubrics from the dictionary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80527" y="5886302"/>
            <a:ext cx="830560" cy="0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ept vector"/>
          <p:cNvSpPr/>
          <p:nvPr/>
        </p:nvSpPr>
        <p:spPr>
          <a:xfrm>
            <a:off x="6133946" y="5333866"/>
            <a:ext cx="2285942" cy="110487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22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Concept vector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616E7C"/>
                </a:solidFill>
                <a:latin typeface="Calibri"/>
              </a:rPr>
              <a:t>every dimension is a</a:t>
            </a:r>
          </a:p>
          <a:p>
            <a:pPr algn="ctr"/>
            <a:r>
              <a:rPr sz="1150">
                <a:solidFill>
                  <a:srgbClr val="616E7C"/>
                </a:solidFill>
                <a:latin typeface="Calibri"/>
              </a:rPr>
              <a:t>named concept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42748" y="5886302"/>
            <a:ext cx="830560" cy="0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Use"/>
          <p:cNvSpPr/>
          <p:nvPr/>
        </p:nvSpPr>
        <p:spPr>
          <a:xfrm>
            <a:off x="9296167" y="5333866"/>
            <a:ext cx="2628834" cy="1104872"/>
          </a:xfrm>
          <a:prstGeom prst="roundRect">
            <a:avLst>
              <a:gd name="adj" fmla="val 12000"/>
            </a:avLst>
          </a:prstGeom>
          <a:solidFill>
            <a:srgbClr val="E5E7EB"/>
          </a:solidFill>
          <a:ln w="222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Use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616E7C"/>
                </a:solidFill>
                <a:latin typeface="Calibri"/>
              </a:rPr>
              <a:t>clustering | retrieval</a:t>
            </a:r>
          </a:p>
          <a:p>
            <a:pPr algn="ctr"/>
            <a:r>
              <a:rPr sz="1150">
                <a:solidFill>
                  <a:srgbClr val="616E7C"/>
                </a:solidFill>
                <a:latin typeface="Calibri"/>
              </a:rPr>
              <a:t>edit a concept, find nearest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762FB1-4E6B-2E0B-DF73-81DC86BAE934}"/>
              </a:ext>
            </a:extLst>
          </p:cNvPr>
          <p:cNvGrpSpPr/>
          <p:nvPr/>
        </p:nvGrpSpPr>
        <p:grpSpPr>
          <a:xfrm>
            <a:off x="233222" y="831062"/>
            <a:ext cx="2372752" cy="2911779"/>
            <a:chOff x="233222" y="831062"/>
            <a:chExt cx="2372752" cy="2911779"/>
          </a:xfrm>
        </p:grpSpPr>
        <p:sp>
          <p:nvSpPr>
            <p:cNvPr id="4" name="DINOv3 teacher"/>
            <p:cNvSpPr/>
            <p:nvPr/>
          </p:nvSpPr>
          <p:spPr>
            <a:xfrm>
              <a:off x="1340955" y="838179"/>
              <a:ext cx="1265019" cy="647683"/>
            </a:xfrm>
            <a:prstGeom prst="roundRect">
              <a:avLst>
                <a:gd name="adj" fmla="val 12000"/>
              </a:avLst>
            </a:prstGeom>
            <a:solidFill>
              <a:srgbClr val="E5E7EB"/>
            </a:solidFill>
            <a:ln w="22225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1300" b="1" dirty="0">
                  <a:solidFill>
                    <a:srgbClr val="1F2933"/>
                  </a:solidFill>
                  <a:latin typeface="Calibri"/>
                </a:rPr>
                <a:t>DINOv3 teacher</a:t>
              </a:r>
            </a:p>
            <a:p>
              <a:pPr algn="ctr">
                <a:spcBef>
                  <a:spcPts val="400"/>
                </a:spcBef>
              </a:pPr>
              <a:r>
                <a:rPr lang="en-US" sz="1050" dirty="0">
                  <a:solidFill>
                    <a:srgbClr val="616E7C"/>
                  </a:solidFill>
                  <a:latin typeface="Calibri"/>
                </a:rPr>
                <a:t>Diverse morphology</a:t>
              </a:r>
              <a:endParaRPr sz="1050" dirty="0">
                <a:solidFill>
                  <a:srgbClr val="616E7C"/>
                </a:solidFill>
                <a:latin typeface="Calibri"/>
              </a:endParaRP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682814" y="1508722"/>
              <a:ext cx="0" cy="220974"/>
            </a:xfrm>
            <a:prstGeom prst="line">
              <a:avLst/>
            </a:prstGeom>
            <a:ln w="25400">
              <a:solidFill>
                <a:srgbClr val="1F2933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i-modal sampler"/>
            <p:cNvSpPr/>
            <p:nvPr/>
          </p:nvSpPr>
          <p:spPr>
            <a:xfrm>
              <a:off x="266693" y="1752556"/>
              <a:ext cx="1981150" cy="1104872"/>
            </a:xfrm>
            <a:prstGeom prst="roundRect">
              <a:avLst>
                <a:gd name="adj" fmla="val 12000"/>
              </a:avLst>
            </a:prstGeom>
            <a:solidFill>
              <a:srgbClr val="E5E7EB"/>
            </a:solidFill>
            <a:ln w="22225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1500" b="1" dirty="0">
                  <a:solidFill>
                    <a:srgbClr val="1F2933"/>
                  </a:solidFill>
                  <a:latin typeface="Calibri"/>
                </a:rPr>
                <a:t>Tri-modal sampler</a:t>
              </a:r>
            </a:p>
          </p:txBody>
        </p:sp>
        <p:sp>
          <p:nvSpPr>
            <p:cNvPr id="36" name="DINOv3 teacher">
              <a:extLst>
                <a:ext uri="{FF2B5EF4-FFF2-40B4-BE49-F238E27FC236}">
                  <a16:creationId xmlns:a16="http://schemas.microsoft.com/office/drawing/2014/main" id="{0708A84A-1512-56DF-2362-8D3C19F7D644}"/>
                </a:ext>
              </a:extLst>
            </p:cNvPr>
            <p:cNvSpPr/>
            <p:nvPr/>
          </p:nvSpPr>
          <p:spPr>
            <a:xfrm>
              <a:off x="266693" y="831062"/>
              <a:ext cx="832243" cy="647683"/>
            </a:xfrm>
            <a:prstGeom prst="roundRect">
              <a:avLst>
                <a:gd name="adj" fmla="val 12000"/>
              </a:avLst>
            </a:prstGeom>
            <a:solidFill>
              <a:srgbClr val="E5E7EB"/>
            </a:solidFill>
            <a:ln w="22225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lang="en-US" sz="1300" b="1" dirty="0">
                  <a:solidFill>
                    <a:srgbClr val="1F2933"/>
                  </a:solidFill>
                  <a:latin typeface="Calibri"/>
                </a:rPr>
                <a:t>Random</a:t>
              </a:r>
              <a:endParaRPr sz="1300" b="1" dirty="0">
                <a:solidFill>
                  <a:srgbClr val="1F2933"/>
                </a:solidFill>
                <a:latin typeface="Calibri"/>
              </a:endParaRPr>
            </a:p>
          </p:txBody>
        </p:sp>
        <p:cxnSp>
          <p:nvCxnSpPr>
            <p:cNvPr id="37" name="Connector 4">
              <a:extLst>
                <a:ext uri="{FF2B5EF4-FFF2-40B4-BE49-F238E27FC236}">
                  <a16:creationId xmlns:a16="http://schemas.microsoft.com/office/drawing/2014/main" id="{19176983-F5D5-81FB-2521-212A659500E9}"/>
                </a:ext>
              </a:extLst>
            </p:cNvPr>
            <p:cNvCxnSpPr/>
            <p:nvPr/>
          </p:nvCxnSpPr>
          <p:spPr>
            <a:xfrm>
              <a:off x="1973464" y="1513735"/>
              <a:ext cx="0" cy="220974"/>
            </a:xfrm>
            <a:prstGeom prst="line">
              <a:avLst/>
            </a:prstGeom>
            <a:ln w="25400">
              <a:solidFill>
                <a:srgbClr val="1F2933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DINOv3 teacher">
              <a:extLst>
                <a:ext uri="{FF2B5EF4-FFF2-40B4-BE49-F238E27FC236}">
                  <a16:creationId xmlns:a16="http://schemas.microsoft.com/office/drawing/2014/main" id="{6C208D6E-7A2F-8ACF-F5DC-65A748F3771A}"/>
                </a:ext>
              </a:extLst>
            </p:cNvPr>
            <p:cNvSpPr/>
            <p:nvPr/>
          </p:nvSpPr>
          <p:spPr>
            <a:xfrm>
              <a:off x="233222" y="3095158"/>
              <a:ext cx="2004010" cy="647683"/>
            </a:xfrm>
            <a:prstGeom prst="roundRect">
              <a:avLst>
                <a:gd name="adj" fmla="val 12000"/>
              </a:avLst>
            </a:prstGeom>
            <a:solidFill>
              <a:srgbClr val="E5E7EB"/>
            </a:solidFill>
            <a:ln w="22225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lang="en-US" sz="1300" b="1" dirty="0">
                  <a:solidFill>
                    <a:srgbClr val="1F2933"/>
                  </a:solidFill>
                  <a:latin typeface="Calibri"/>
                </a:rPr>
                <a:t>Collision </a:t>
              </a:r>
              <a:endParaRPr sz="1300" b="1" dirty="0">
                <a:solidFill>
                  <a:srgbClr val="1F2933"/>
                </a:solidFill>
                <a:latin typeface="Calibri"/>
              </a:endParaRPr>
            </a:p>
            <a:p>
              <a:pPr algn="ctr">
                <a:spcBef>
                  <a:spcPts val="400"/>
                </a:spcBef>
              </a:pPr>
              <a:r>
                <a:rPr lang="en-US" sz="1050" dirty="0">
                  <a:solidFill>
                    <a:srgbClr val="616E7C"/>
                  </a:solidFill>
                  <a:latin typeface="Calibri"/>
                </a:rPr>
                <a:t>Current confused morphology</a:t>
              </a:r>
              <a:endParaRPr sz="1050" dirty="0">
                <a:solidFill>
                  <a:srgbClr val="616E7C"/>
                </a:solidFill>
                <a:latin typeface="Calibri"/>
              </a:endParaRPr>
            </a:p>
          </p:txBody>
        </p:sp>
        <p:cxnSp>
          <p:nvCxnSpPr>
            <p:cNvPr id="40" name="Connector 4">
              <a:extLst>
                <a:ext uri="{FF2B5EF4-FFF2-40B4-BE49-F238E27FC236}">
                  <a16:creationId xmlns:a16="http://schemas.microsoft.com/office/drawing/2014/main" id="{37BD56A3-D8AF-F799-7F05-5F6214DBAC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752" y="2876088"/>
              <a:ext cx="0" cy="161688"/>
            </a:xfrm>
            <a:prstGeom prst="line">
              <a:avLst/>
            </a:prstGeom>
            <a:ln w="25400">
              <a:solidFill>
                <a:srgbClr val="1F2933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Proposer agent">
            <a:extLst>
              <a:ext uri="{FF2B5EF4-FFF2-40B4-BE49-F238E27FC236}">
                <a16:creationId xmlns:a16="http://schemas.microsoft.com/office/drawing/2014/main" id="{0319B140-AEDB-9186-EDC4-7F7D7679D0FE}"/>
              </a:ext>
            </a:extLst>
          </p:cNvPr>
          <p:cNvSpPr/>
          <p:nvPr/>
        </p:nvSpPr>
        <p:spPr>
          <a:xfrm>
            <a:off x="3604096" y="941803"/>
            <a:ext cx="993803" cy="44195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dirty="0">
                <a:solidFill>
                  <a:srgbClr val="1F2933"/>
                </a:solidFill>
                <a:latin typeface="Calibri"/>
              </a:rPr>
              <a:t>Proposer</a:t>
            </a:r>
          </a:p>
        </p:txBody>
      </p:sp>
      <p:sp>
        <p:nvSpPr>
          <p:cNvPr id="47" name="Proposer agent">
            <a:extLst>
              <a:ext uri="{FF2B5EF4-FFF2-40B4-BE49-F238E27FC236}">
                <a16:creationId xmlns:a16="http://schemas.microsoft.com/office/drawing/2014/main" id="{BA74B1AE-BDEB-E548-057A-AFA425A8EF1E}"/>
              </a:ext>
            </a:extLst>
          </p:cNvPr>
          <p:cNvSpPr/>
          <p:nvPr/>
        </p:nvSpPr>
        <p:spPr>
          <a:xfrm>
            <a:off x="3603137" y="3553861"/>
            <a:ext cx="993803" cy="447655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dirty="0">
                <a:solidFill>
                  <a:srgbClr val="1F2933"/>
                </a:solidFill>
                <a:latin typeface="Calibri"/>
              </a:rPr>
              <a:t>Proposer</a:t>
            </a:r>
          </a:p>
        </p:txBody>
      </p:sp>
      <p:cxnSp>
        <p:nvCxnSpPr>
          <p:cNvPr id="48" name="Connector 9">
            <a:extLst>
              <a:ext uri="{FF2B5EF4-FFF2-40B4-BE49-F238E27FC236}">
                <a16:creationId xmlns:a16="http://schemas.microsoft.com/office/drawing/2014/main" id="{C5DE7DAE-F23B-DC30-CBBE-1CA8F5215F19}"/>
              </a:ext>
            </a:extLst>
          </p:cNvPr>
          <p:cNvCxnSpPr>
            <a:cxnSpLocks/>
          </p:cNvCxnSpPr>
          <p:nvPr/>
        </p:nvCxnSpPr>
        <p:spPr>
          <a:xfrm flipV="1">
            <a:off x="4646909" y="2519107"/>
            <a:ext cx="321206" cy="1259553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9">
            <a:extLst>
              <a:ext uri="{FF2B5EF4-FFF2-40B4-BE49-F238E27FC236}">
                <a16:creationId xmlns:a16="http://schemas.microsoft.com/office/drawing/2014/main" id="{309DDC1F-5207-921F-6D73-8E6A13DEEAE5}"/>
              </a:ext>
            </a:extLst>
          </p:cNvPr>
          <p:cNvCxnSpPr>
            <a:cxnSpLocks/>
          </p:cNvCxnSpPr>
          <p:nvPr/>
        </p:nvCxnSpPr>
        <p:spPr>
          <a:xfrm>
            <a:off x="4646909" y="1184880"/>
            <a:ext cx="321206" cy="872468"/>
          </a:xfrm>
          <a:prstGeom prst="line">
            <a:avLst/>
          </a:prstGeom>
          <a:ln w="25400">
            <a:solidFill>
              <a:srgbClr val="1F293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2" grpId="0"/>
      <p:bldP spid="14" grpId="0" animBg="1"/>
      <p:bldP spid="15" grpId="0"/>
      <p:bldP spid="16" grpId="0" animBg="1"/>
      <p:bldP spid="19" grpId="0" animBg="1"/>
      <p:bldP spid="21" grpId="0"/>
      <p:bldP spid="22" grpId="0" animBg="1"/>
      <p:bldP spid="24" grpId="0" animBg="1"/>
      <p:bldP spid="30" grpId="0"/>
      <p:bldP spid="32" grpId="0" animBg="1"/>
      <p:bldP spid="34" grpId="0" animBg="1"/>
      <p:bldP spid="46" grpId="0" animBg="1"/>
      <p:bldP spid="4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172</Words>
  <Application>Microsoft Office PowerPoint</Application>
  <PresentationFormat>Widescreen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Kevin Zhang</cp:lastModifiedBy>
  <cp:revision>3</cp:revision>
  <dcterms:created xsi:type="dcterms:W3CDTF">2013-01-27T09:14:16Z</dcterms:created>
  <dcterms:modified xsi:type="dcterms:W3CDTF">2026-10-22T16:25:53Z</dcterms:modified>
  <cp:category/>
</cp:coreProperties>
</file>